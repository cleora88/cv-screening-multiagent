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92608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UIR · Integrated AI/ML Project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777240"/>
            <a:ext cx="5669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Screening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System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11480" y="2606040"/>
            <a:ext cx="5669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candidate pre-screening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specialist agents, Deep Learning &amp; Human-in-the-Loop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46520" y="1005840"/>
            <a:ext cx="2377440" cy="530352"/>
          </a:xfrm>
          <a:prstGeom prst="roundRect">
            <a:avLst>
              <a:gd name="adj" fmla="val 13793"/>
            </a:avLst>
          </a:prstGeom>
          <a:solidFill>
            <a:srgbClr val="0D9488">
              <a:alpha val="80000"/>
            </a:srgbClr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46520" y="100584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Specialist Agents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46520" y="1810512"/>
            <a:ext cx="2377440" cy="530352"/>
          </a:xfrm>
          <a:prstGeom prst="roundRect">
            <a:avLst>
              <a:gd name="adj" fmla="val 13793"/>
            </a:avLst>
          </a:prstGeom>
          <a:solidFill>
            <a:srgbClr val="6D28D9">
              <a:alpha val="80000"/>
            </a:srgbClr>
          </a:solidFill>
          <a:ln w="12700">
            <a:solidFill>
              <a:srgbClr val="6D28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46520" y="1810512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Model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46520" y="2615184"/>
            <a:ext cx="2377440" cy="530352"/>
          </a:xfrm>
          <a:prstGeom prst="roundRect">
            <a:avLst>
              <a:gd name="adj" fmla="val 13793"/>
            </a:avLst>
          </a:prstGeom>
          <a:solidFill>
            <a:srgbClr val="D97706">
              <a:alpha val="80000"/>
            </a:srgbClr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46520" y="2615184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Approval Gate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46520" y="3419856"/>
            <a:ext cx="2377440" cy="530352"/>
          </a:xfrm>
          <a:prstGeom prst="roundRect">
            <a:avLst>
              <a:gd name="adj" fmla="val 13793"/>
            </a:avLst>
          </a:prstGeom>
          <a:solidFill>
            <a:srgbClr val="16A34A">
              <a:alpha val="80000"/>
            </a:srgbClr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46520" y="3419856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Audit Trail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11480" y="457200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A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Zouhair Eouichak  ·  Malak Bartal  ·  Aymane El Youssi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" y="482803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0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2025 –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3A6E"/>
          </a:solidFill>
          <a:ln w="12700">
            <a:solidFill>
              <a:srgbClr val="1F3A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0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Motivation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40233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68680"/>
            <a:ext cx="4023360" cy="402336"/>
          </a:xfrm>
          <a:prstGeom prst="rect">
            <a:avLst/>
          </a:prstGeom>
          <a:solidFill>
            <a:srgbClr val="FEF2F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868680"/>
            <a:ext cx="38770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The Problem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20624" y="1389888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Recruiters receive hundreds of CVs per position.
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screening is:
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0624" y="2176272"/>
            <a:ext cx="164592" cy="16459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212140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and time-consuming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20624" y="2706624"/>
            <a:ext cx="164592" cy="16459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265176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Subjective and inconsistent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20624" y="3236976"/>
            <a:ext cx="164592" cy="16459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318211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justify or audit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47472" y="3730752"/>
            <a:ext cx="3785616" cy="786384"/>
          </a:xfrm>
          <a:prstGeom prst="rect">
            <a:avLst/>
          </a:prstGeom>
          <a:solidFill>
            <a:srgbClr val="FEF9C3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749040"/>
            <a:ext cx="3657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case: recruiting a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Junior Data Analyst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46320" y="868680"/>
            <a:ext cx="40233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46320" y="868680"/>
            <a:ext cx="4023360" cy="402336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19472" y="868680"/>
            <a:ext cx="38770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Our Solution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919472" y="1408176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57216" y="1353312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technical and profile analysis into specialist agents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919472" y="1938528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57216" y="1883664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trained PyTorch model for scoring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919472" y="2468880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57216" y="2414016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clear, explainable outputs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919472" y="2999232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57216" y="2944368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 uncertain cases to human review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919472" y="3529584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57216" y="3474720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all decisions for traceability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3A6E"/>
          </a:solidFill>
          <a:ln w="12700">
            <a:solidFill>
              <a:srgbClr val="1F3A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0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Architecture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82880" y="960120"/>
            <a:ext cx="1463040" cy="1463040"/>
          </a:xfrm>
          <a:prstGeom prst="rect">
            <a:avLst/>
          </a:prstGeom>
          <a:solidFill>
            <a:srgbClr val="CCECE9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82880" y="960120"/>
            <a:ext cx="1463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1100" dirty="0"/>
          </a:p>
          <a:p>
            <a:pPr algn="ctr" indent="0" marL="0">
              <a:buNone/>
            </a:pP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Text</a:t>
            </a:r>
            <a:endParaRPr lang="en-US" sz="1100" dirty="0"/>
          </a:p>
          <a:p>
            <a:pPr algn="ctr" indent="0" marL="0">
              <a:buNone/>
            </a:pP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Description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645920" y="1417320"/>
            <a:ext cx="45720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1645920" y="1920240"/>
            <a:ext cx="45720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dash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103120" y="960120"/>
            <a:ext cx="2011680" cy="1463040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103120" y="960120"/>
            <a:ext cx="201168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03120" y="96012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Matcher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176272" y="1371600"/>
            <a:ext cx="186537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skills &amp; tech fit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model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extractor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score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114800" y="1417320"/>
            <a:ext cx="45720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114800" y="1920240"/>
            <a:ext cx="45720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dash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2103120" y="2651760"/>
            <a:ext cx="2011680" cy="1463040"/>
          </a:xfrm>
          <a:prstGeom prst="rect">
            <a:avLst/>
          </a:prstGeom>
          <a:solidFill>
            <a:srgbClr val="FFF7ED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103120" y="2651760"/>
            <a:ext cx="2011680" cy="3474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03120" y="26517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Analyzer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176272" y="3063240"/>
            <a:ext cx="186537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Seniority &amp; experience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markers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Teamwork signals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score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114800" y="3063240"/>
            <a:ext cx="457200" cy="0"/>
          </a:xfrm>
          <a:prstGeom prst="line">
            <a:avLst/>
          </a:prstGeom>
          <a:noFill/>
          <a:ln w="31750">
            <a:solidFill>
              <a:srgbClr val="D97706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572000" y="1463040"/>
            <a:ext cx="2103120" cy="1737360"/>
          </a:xfrm>
          <a:prstGeom prst="rect">
            <a:avLst/>
          </a:prstGeom>
          <a:solidFill>
            <a:srgbClr val="EFF6FF"/>
          </a:solidFill>
          <a:ln w="12700">
            <a:solidFill>
              <a:srgbClr val="1F3A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0" y="1463040"/>
            <a:ext cx="2103120" cy="347472"/>
          </a:xfrm>
          <a:prstGeom prst="rect">
            <a:avLst/>
          </a:prstGeom>
          <a:solidFill>
            <a:srgbClr val="1F3A6E"/>
          </a:solidFill>
          <a:ln w="12700">
            <a:solidFill>
              <a:srgbClr val="1F3A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0" y="146304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645152" y="1874520"/>
            <a:ext cx="1956816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final score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Disagreement detection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Borderline detection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 trigger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JSONL logs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675120" y="2286000"/>
            <a:ext cx="411480" cy="0"/>
          </a:xfrm>
          <a:prstGeom prst="line">
            <a:avLst/>
          </a:prstGeom>
          <a:noFill/>
          <a:ln w="31750">
            <a:solidFill>
              <a:srgbClr val="1F3A6E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7086600" y="1115568"/>
            <a:ext cx="1737360" cy="566928"/>
          </a:xfrm>
          <a:prstGeom prst="roundRect">
            <a:avLst>
              <a:gd name="adj" fmla="val 12903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086600" y="1115568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shortlist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086600" y="2029968"/>
            <a:ext cx="1737360" cy="566928"/>
          </a:xfrm>
          <a:prstGeom prst="roundRect">
            <a:avLst>
              <a:gd name="adj" fmla="val 12903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7086600" y="2029968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086600" y="2944368"/>
            <a:ext cx="1737360" cy="566928"/>
          </a:xfrm>
          <a:prstGeom prst="roundRect">
            <a:avLst>
              <a:gd name="adj" fmla="val 12903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086600" y="2944368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182880" y="4315968"/>
            <a:ext cx="8778240" cy="566928"/>
          </a:xfrm>
          <a:prstGeom prst="rect">
            <a:avLst/>
          </a:prstGeom>
          <a:solidFill>
            <a:srgbClr val="FFF9C4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4315968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Human-in-the-Loop triggered if:  borderline score  |  agent disagreement  |  tool failure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3A6E"/>
          </a:solidFill>
          <a:ln w="12700">
            <a:solidFill>
              <a:srgbClr val="1F3A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0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Deep Learning Model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40233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68680"/>
            <a:ext cx="40233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868680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Tool 1 — DL Model Tool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20624" y="133502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CV + Job description text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20624" y="166420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Fit label (High/Medium/Low) + score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0624" y="199339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Framework: PyTorch 2.x — CVFitNet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20624" y="232257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File: models/cv_fit_model.pt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46320" y="868680"/>
            <a:ext cx="40233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46320" y="868680"/>
            <a:ext cx="40233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19472" y="868680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Tool 2 — Skill Extractor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92624" y="133502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CV + Job description text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92624" y="166420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Matched skills, missing skills, coverage ratio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92624" y="199339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NLP keyword extraction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92624" y="232257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Usage: Technical Matcher + explainability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74320" y="294436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Architecture — CVFitNet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74320" y="3364992"/>
            <a:ext cx="1554480" cy="13898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74320" y="3364992"/>
            <a:ext cx="1554480" cy="1389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828800" y="4059936"/>
            <a:ext cx="54864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2103120" y="3364992"/>
            <a:ext cx="1554480" cy="1389888"/>
          </a:xfrm>
          <a:prstGeom prst="rect">
            <a:avLst/>
          </a:prstGeom>
          <a:solidFill>
            <a:srgbClr val="1F3A6E"/>
          </a:solidFill>
          <a:ln w="12700">
            <a:solidFill>
              <a:srgbClr val="1F3A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2103120" y="3364992"/>
            <a:ext cx="1554480" cy="1389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 Layer 1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(hidden)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0" y="4059936"/>
            <a:ext cx="54864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3931920" y="3364992"/>
            <a:ext cx="1554480" cy="138988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931920" y="3364992"/>
            <a:ext cx="1554480" cy="1389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BatchNorm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ReLU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0" y="4059936"/>
            <a:ext cx="54864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5760720" y="3364992"/>
            <a:ext cx="1554480" cy="1389888"/>
          </a:xfrm>
          <a:prstGeom prst="rect">
            <a:avLst/>
          </a:prstGeom>
          <a:solidFill>
            <a:srgbClr val="1F3A6E"/>
          </a:solidFill>
          <a:ln w="12700">
            <a:solidFill>
              <a:srgbClr val="1F3A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760720" y="3364992"/>
            <a:ext cx="1554480" cy="1389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 Layer 2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(hidden)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315200" y="4059936"/>
            <a:ext cx="54864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7589520" y="3364992"/>
            <a:ext cx="1554480" cy="138988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7589520" y="3364992"/>
            <a:ext cx="1554480" cy="1389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High/Med/Low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3A6E"/>
          </a:solidFill>
          <a:ln w="12700">
            <a:solidFill>
              <a:srgbClr val="1F3A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0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Workflow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37160" y="914400"/>
            <a:ext cx="1353312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85216" y="1005840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5216" y="1005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37160" y="1572768"/>
            <a:ext cx="1353312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7160" y="1572768"/>
            <a:ext cx="13533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Inputs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92024" y="2304288"/>
            <a:ext cx="1243584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(text/PDF/JSON)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Job description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490472" y="2560320"/>
            <a:ext cx="13716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1627632" y="914400"/>
            <a:ext cx="1353312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075688" y="1005840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75688" y="1005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627632" y="1572768"/>
            <a:ext cx="1353312" cy="6583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627632" y="1572768"/>
            <a:ext cx="13533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682496" y="2304288"/>
            <a:ext cx="1243584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Matcher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+ Skill Extractor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980944" y="2560320"/>
            <a:ext cx="13716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3118104" y="914400"/>
            <a:ext cx="1353312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566160" y="1005840"/>
            <a:ext cx="457200" cy="45720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66160" y="1005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118104" y="1572768"/>
            <a:ext cx="1353312" cy="6583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118104" y="1572768"/>
            <a:ext cx="13533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172968" y="2304288"/>
            <a:ext cx="1243584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Analyzer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Seniority + Experience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471416" y="2560320"/>
            <a:ext cx="13716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4608576" y="914400"/>
            <a:ext cx="1353312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056632" y="1005840"/>
            <a:ext cx="457200" cy="457200"/>
          </a:xfrm>
          <a:prstGeom prst="ellipse">
            <a:avLst/>
          </a:prstGeom>
          <a:solidFill>
            <a:srgbClr val="1F3A6E"/>
          </a:solidFill>
          <a:ln w="12700">
            <a:solidFill>
              <a:srgbClr val="1F3A6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56632" y="1005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608576" y="1572768"/>
            <a:ext cx="1353312" cy="658368"/>
          </a:xfrm>
          <a:prstGeom prst="rect">
            <a:avLst/>
          </a:prstGeom>
          <a:solidFill>
            <a:srgbClr val="1F3A6E"/>
          </a:solidFill>
          <a:ln w="12700">
            <a:solidFill>
              <a:srgbClr val="1F3A6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08576" y="1572768"/>
            <a:ext cx="13533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663440" y="2304288"/>
            <a:ext cx="1243584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score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+ Recommendation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961888" y="2560320"/>
            <a:ext cx="13716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6099048" y="914400"/>
            <a:ext cx="1353312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547104" y="1005840"/>
            <a:ext cx="457200" cy="45720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47104" y="1005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099048" y="1572768"/>
            <a:ext cx="1353312" cy="6583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099048" y="1572768"/>
            <a:ext cx="13533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 Gate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153912" y="2304288"/>
            <a:ext cx="1243584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Borderline / Conflict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Human review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452360" y="2560320"/>
            <a:ext cx="13716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7589520" y="914400"/>
            <a:ext cx="1353312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8037576" y="1005840"/>
            <a:ext cx="457200" cy="45720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037576" y="1005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7589520" y="1572768"/>
            <a:ext cx="1353312" cy="65836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589520" y="1572768"/>
            <a:ext cx="13533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Logs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644384" y="2304288"/>
            <a:ext cx="1243584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/ CSV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JSONL Audit Trail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137160" y="4462272"/>
            <a:ext cx="8869680" cy="457200"/>
          </a:xfrm>
          <a:prstGeom prst="rect">
            <a:avLst/>
          </a:prstGeom>
          <a:solidFill>
            <a:srgbClr val="CCECE9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74320" y="4462272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is logged to a structured JSONL audit file for full traceability and reproducibility.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3A6E"/>
          </a:solidFill>
          <a:ln w="12700">
            <a:solidFill>
              <a:srgbClr val="1F3A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0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(HITL)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39319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68680"/>
            <a:ext cx="3931920" cy="38404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868680"/>
            <a:ext cx="3785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 Triggers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0624" y="1389888"/>
            <a:ext cx="182880" cy="18288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6656" y="133502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Borderline score (0.45 – 0.55)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0624" y="1938528"/>
            <a:ext cx="182880" cy="18288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6656" y="188366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disagreement between agents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0624" y="2487168"/>
            <a:ext cx="182880" cy="18288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6656" y="243230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or agent failure / fallback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937760" y="868680"/>
            <a:ext cx="39319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937760" y="868680"/>
            <a:ext cx="3931920" cy="3840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10912" y="868680"/>
            <a:ext cx="3785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Reviewer Actions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84064" y="1371600"/>
            <a:ext cx="3566160" cy="347472"/>
          </a:xfrm>
          <a:prstGeom prst="roundRect">
            <a:avLst>
              <a:gd name="adj" fmla="val 15789"/>
            </a:avLst>
          </a:prstGeom>
          <a:solidFill>
            <a:srgbClr val="16A34A">
              <a:alpha val="85000"/>
            </a:srgbClr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84064" y="137160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Shortlist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84064" y="1883664"/>
            <a:ext cx="3566160" cy="347472"/>
          </a:xfrm>
          <a:prstGeom prst="roundRect">
            <a:avLst>
              <a:gd name="adj" fmla="val 15789"/>
            </a:avLst>
          </a:prstGeom>
          <a:solidFill>
            <a:srgbClr val="D97706">
              <a:alpha val="85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84064" y="188366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Review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084064" y="2395728"/>
            <a:ext cx="3566160" cy="347472"/>
          </a:xfrm>
          <a:prstGeom prst="roundRect">
            <a:avLst>
              <a:gd name="adj" fmla="val 15789"/>
            </a:avLst>
          </a:prstGeom>
          <a:solidFill>
            <a:srgbClr val="DC2626">
              <a:alpha val="85000"/>
            </a:srgbClr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84064" y="239572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74320" y="3337560"/>
            <a:ext cx="42062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3337560"/>
            <a:ext cx="4206240" cy="347472"/>
          </a:xfrm>
          <a:prstGeom prst="rect">
            <a:avLst/>
          </a:prstGeom>
          <a:solidFill>
            <a:srgbClr val="1F3A6E"/>
          </a:solidFill>
          <a:ln w="12700">
            <a:solidFill>
              <a:srgbClr val="1F3A6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7472" y="3337560"/>
            <a:ext cx="4059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Mode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47472" y="3749040"/>
            <a:ext cx="405993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Blocking UI — explicit reviewer decision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 final recommendation is shown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09160" y="3337560"/>
            <a:ext cx="42062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09160" y="3337560"/>
            <a:ext cx="420624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82312" y="3337560"/>
            <a:ext cx="4059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Mode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782312" y="3749040"/>
            <a:ext cx="405993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--require-human-approval marks cases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pending-human-approval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3A6E"/>
          </a:solidFill>
          <a:ln w="12700">
            <a:solidFill>
              <a:srgbClr val="1F3A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0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&amp; Metrics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1993392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22960"/>
            <a:ext cx="1993392" cy="14630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969264"/>
            <a:ext cx="19933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274320" y="1627632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Accuracy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" y="1883664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samples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450592" y="822960"/>
            <a:ext cx="1993392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50592" y="822960"/>
            <a:ext cx="1993392" cy="14630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50592" y="969264"/>
            <a:ext cx="19933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2450592" y="1627632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F1 Score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450592" y="1883664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Low/Med/High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26864" y="822960"/>
            <a:ext cx="1993392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26864" y="822960"/>
            <a:ext cx="1993392" cy="146304"/>
          </a:xfrm>
          <a:prstGeom prst="rect">
            <a:avLst/>
          </a:prstGeom>
          <a:solidFill>
            <a:srgbClr val="1F3A6E"/>
          </a:solidFill>
          <a:ln w="12700">
            <a:solidFill>
              <a:srgbClr val="1F3A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26864" y="969264"/>
            <a:ext cx="19933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83.3%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4626864" y="1627632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Accuracy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26864" y="1883664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eval cases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803136" y="822960"/>
            <a:ext cx="1993392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03136" y="822960"/>
            <a:ext cx="1993392" cy="14630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03136" y="969264"/>
            <a:ext cx="19933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16/16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6803136" y="1627632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Passed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03136" y="1883664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suite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74320" y="22860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(model)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606040"/>
          <a:ext cx="4114800" cy="2286000"/>
        </p:xfrm>
        <a:graphic>
          <a:graphicData uri="http://schemas.openxmlformats.org/drawingml/2006/table">
            <a:tbl>
              <a:tblPr/>
              <a:tblGrid>
                <a:gridCol w="1188720"/>
                <a:gridCol w="978408"/>
                <a:gridCol w="978408"/>
                <a:gridCol w="969264"/>
              </a:tblGrid>
              <a:tr h="5715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Pred: Low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Pred: Med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Pred: 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6E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A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True: Low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C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A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True: Med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C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A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True: 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C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</a:tr>
            </a:tbl>
          </a:graphicData>
        </a:graphic>
      </p:graphicFrame>
      <p:sp>
        <p:nvSpPr>
          <p:cNvPr id="27" name="Text 24"/>
          <p:cNvSpPr/>
          <p:nvPr/>
        </p:nvSpPr>
        <p:spPr>
          <a:xfrm>
            <a:off x="4754880" y="22860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Evaluation — 6 cases</a:t>
            </a:r>
            <a:endParaRPr lang="en-US" sz="12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2606040"/>
          <a:ext cx="4114800" cy="2286000"/>
        </p:xfrm>
        <a:graphic>
          <a:graphicData uri="http://schemas.openxmlformats.org/drawingml/2006/table">
            <a:tbl>
              <a:tblPr/>
              <a:tblGrid>
                <a:gridCol w="1097280"/>
                <a:gridCol w="1005840"/>
                <a:gridCol w="1188720"/>
                <a:gridCol w="822960"/>
              </a:tblGrid>
              <a:tr h="32657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6E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eval_001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 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eval_002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  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eval_003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  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eval_004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  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0.479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eval_005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 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eval_006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 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0.371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3A6E"/>
          </a:solidFill>
          <a:ln w="12700">
            <a:solidFill>
              <a:srgbClr val="1F3A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0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Frontend — Dashboard Demo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402336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68680"/>
            <a:ext cx="4023360" cy="402336"/>
          </a:xfrm>
          <a:prstGeom prst="rect">
            <a:avLst/>
          </a:prstGeom>
          <a:solidFill>
            <a:srgbClr val="1F3A6E"/>
          </a:solidFill>
          <a:ln w="12700">
            <a:solidFill>
              <a:srgbClr val="1F3A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868680"/>
            <a:ext cx="38770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1 — Single Screening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0624" y="1408176"/>
            <a:ext cx="146304" cy="14630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344168"/>
            <a:ext cx="3511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CV vs 1 job description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0624" y="1993392"/>
            <a:ext cx="146304" cy="14630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929384"/>
            <a:ext cx="3511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result tabs: Intake · Agent Analysis · Decision Room · Evidence · Audit Trail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0624" y="2578608"/>
            <a:ext cx="146304" cy="14630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514600"/>
            <a:ext cx="3511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Blocking HITL gate for borderline cases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20624" y="3163824"/>
            <a:ext cx="146304" cy="14630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099816"/>
            <a:ext cx="3511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JSON / CSV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20624" y="3749040"/>
            <a:ext cx="146304" cy="14630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685032"/>
            <a:ext cx="3511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Downloadable Defense Pack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46320" y="868680"/>
            <a:ext cx="402336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46320" y="868680"/>
            <a:ext cx="4023360" cy="40233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19472" y="868680"/>
            <a:ext cx="38770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2 — Batch Screening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992624" y="1408176"/>
            <a:ext cx="146304" cy="146304"/>
          </a:xfrm>
          <a:prstGeom prst="ellipse">
            <a:avLst/>
          </a:prstGeom>
          <a:solidFill>
            <a:srgbClr val="1F3A6E"/>
          </a:solidFill>
          <a:ln w="12700">
            <a:solidFill>
              <a:srgbClr val="1F3A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12080" y="1344168"/>
            <a:ext cx="3511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CVs vs 1 job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992624" y="1993392"/>
            <a:ext cx="146304" cy="146304"/>
          </a:xfrm>
          <a:prstGeom prst="ellipse">
            <a:avLst/>
          </a:prstGeom>
          <a:solidFill>
            <a:srgbClr val="1F3A6E"/>
          </a:solidFill>
          <a:ln w="12700">
            <a:solidFill>
              <a:srgbClr val="1F3A6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12080" y="1929384"/>
            <a:ext cx="3511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leaderboard by score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992624" y="2578608"/>
            <a:ext cx="146304" cy="146304"/>
          </a:xfrm>
          <a:prstGeom prst="ellipse">
            <a:avLst/>
          </a:prstGeom>
          <a:solidFill>
            <a:srgbClr val="1F3A6E"/>
          </a:solidFill>
          <a:ln w="12700">
            <a:solidFill>
              <a:srgbClr val="1F3A6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12080" y="2514600"/>
            <a:ext cx="3511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bar chart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992624" y="3163824"/>
            <a:ext cx="146304" cy="146304"/>
          </a:xfrm>
          <a:prstGeom prst="ellipse">
            <a:avLst/>
          </a:prstGeom>
          <a:solidFill>
            <a:srgbClr val="1F3A6E"/>
          </a:solidFill>
          <a:ln w="12700">
            <a:solidFill>
              <a:srgbClr val="1F3A6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12080" y="3099816"/>
            <a:ext cx="3511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Sample / JSON / PDFs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992624" y="3749040"/>
            <a:ext cx="146304" cy="146304"/>
          </a:xfrm>
          <a:prstGeom prst="ellipse">
            <a:avLst/>
          </a:prstGeom>
          <a:solidFill>
            <a:srgbClr val="1F3A6E"/>
          </a:solidFill>
          <a:ln w="12700">
            <a:solidFill>
              <a:srgbClr val="1F3A6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12080" y="3685032"/>
            <a:ext cx="3511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JSON + CSV · Session history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74320" y="4736592"/>
            <a:ext cx="8595360" cy="2743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473659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streamlit run src/app_frontend.py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3A6E"/>
          </a:solidFill>
          <a:ln w="12700">
            <a:solidFill>
              <a:srgbClr val="1F3A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0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Runtimes &amp; Frameworks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27432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932688"/>
            <a:ext cx="1005840" cy="274320"/>
          </a:xfrm>
          <a:prstGeom prst="roundRect">
            <a:avLst>
              <a:gd name="adj" fmla="val 13333"/>
            </a:avLst>
          </a:prstGeom>
          <a:solidFill>
            <a:srgbClr val="1F3A6E"/>
          </a:solidFill>
          <a:ln w="12700">
            <a:solidFill>
              <a:srgbClr val="1F3A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9326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128016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CrewAI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74320" y="17190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runtime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0624" y="2084832"/>
            <a:ext cx="2450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agents with LLM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20624" y="2523744"/>
            <a:ext cx="2450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Ollama backend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20624" y="2962656"/>
            <a:ext cx="2450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src.main --runtime auto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182112" y="868680"/>
            <a:ext cx="27432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55264" y="932688"/>
            <a:ext cx="1005840" cy="274320"/>
          </a:xfrm>
          <a:prstGeom prst="roundRect">
            <a:avLst>
              <a:gd name="adj" fmla="val 1333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55264" y="9326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182112" y="128016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182112" y="17190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Resilient fallback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28416" y="2084832"/>
            <a:ext cx="2450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Python orchestrator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28416" y="2523744"/>
            <a:ext cx="2450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without any LLM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28416" y="2962656"/>
            <a:ext cx="2450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Active when CrewAI unavailable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089904" y="868680"/>
            <a:ext cx="27432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63056" y="932688"/>
            <a:ext cx="1005840" cy="274320"/>
          </a:xfrm>
          <a:prstGeom prst="roundRect">
            <a:avLst>
              <a:gd name="adj" fmla="val 1333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63056" y="9326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089904" y="128016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089904" y="17190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 goal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236208" y="2084832"/>
            <a:ext cx="2450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scaffold included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236208" y="2523744"/>
            <a:ext cx="2450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Graph-based orchestration base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36208" y="2962656"/>
            <a:ext cx="2450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Future extension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4617720"/>
            <a:ext cx="8595360" cy="320040"/>
          </a:xfrm>
          <a:prstGeom prst="rect">
            <a:avLst/>
          </a:prstGeom>
          <a:solidFill>
            <a:srgbClr val="FFF9C4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6177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LLM Backend — llama3.2 @ localhost:11434 · Enriches output with professional HR recommendation text · Does not affect agent scores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3A6E"/>
          </a:solidFill>
          <a:ln w="12700">
            <a:solidFill>
              <a:srgbClr val="1F3A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0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&amp; Traceability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80467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agent action is logged to a structured JSONL file: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170432"/>
            <a:ext cx="859536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2336" y="117043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timestamp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395728" y="1170432"/>
            <a:ext cx="6309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UTC of the event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554480"/>
            <a:ext cx="8595360" cy="384048"/>
          </a:xfrm>
          <a:prstGeom prst="rect">
            <a:avLst/>
          </a:prstGeom>
          <a:solidFill>
            <a:srgbClr val="CCECE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2336" y="155448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agent_name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395728" y="1554480"/>
            <a:ext cx="6309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technical_matcher  |  profile_analyzer  |  orchestrator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1938528"/>
            <a:ext cx="859536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2336" y="193852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395728" y="1938528"/>
            <a:ext cx="6309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of the action executed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2322576"/>
            <a:ext cx="8595360" cy="384048"/>
          </a:xfrm>
          <a:prstGeom prst="rect">
            <a:avLst/>
          </a:prstGeom>
          <a:solidFill>
            <a:srgbClr val="CCECE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2336" y="232257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tool_used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395728" y="2322576"/>
            <a:ext cx="6309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model_tool  |  skill_extractor  |  —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2706624"/>
            <a:ext cx="859536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2336" y="270662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input_summary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395728" y="2706624"/>
            <a:ext cx="6309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of the input processed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3090672"/>
            <a:ext cx="8595360" cy="384048"/>
          </a:xfrm>
          <a:prstGeom prst="rect">
            <a:avLst/>
          </a:prstGeom>
          <a:solidFill>
            <a:srgbClr val="CCECE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02336" y="309067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output_summary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395728" y="3090672"/>
            <a:ext cx="6309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of the output produced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3474720"/>
            <a:ext cx="859536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02336" y="347472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395728" y="3474720"/>
            <a:ext cx="6309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 |  failure  |  pending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74320" y="3858768"/>
            <a:ext cx="8595360" cy="384048"/>
          </a:xfrm>
          <a:prstGeom prst="rect">
            <a:avLst/>
          </a:prstGeom>
          <a:solidFill>
            <a:srgbClr val="CCECE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02336" y="385876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395728" y="3858768"/>
            <a:ext cx="6309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message if failure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74320" y="4297680"/>
            <a:ext cx="8595360" cy="29260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29768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logs/run_20260524T120000Z.jsonl    ·    logs/pipeline_evaluation.json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74320" y="466344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Audit Trail tab in Streamlit displays the last 30 events in real time.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3A6E"/>
          </a:solidFill>
          <a:ln w="12700">
            <a:solidFill>
              <a:srgbClr val="1F3A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0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Solutions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384048" cy="384048"/>
          </a:xfrm>
          <a:prstGeom prst="ellipse">
            <a:avLst/>
          </a:prstGeom>
          <a:solidFill>
            <a:srgbClr val="1F3A6E"/>
          </a:solidFill>
          <a:ln w="12700">
            <a:solidFill>
              <a:srgbClr val="1F3A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05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04672" y="896112"/>
            <a:ext cx="822960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04672" y="896112"/>
            <a:ext cx="8229600" cy="384048"/>
          </a:xfrm>
          <a:prstGeom prst="rect">
            <a:avLst/>
          </a:prstGeom>
          <a:solidFill>
            <a:srgbClr val="FEF2F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7824" y="896112"/>
            <a:ext cx="8083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Challenge:  Ollama latency during live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04672" y="1280160"/>
            <a:ext cx="8229600" cy="731520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7824" y="1280160"/>
            <a:ext cx="80832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Solution:  Server readiness checks + reduced max tokens + run_project.ps1 launcher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304288"/>
            <a:ext cx="384048" cy="384048"/>
          </a:xfrm>
          <a:prstGeom prst="ellipse">
            <a:avLst/>
          </a:prstGeom>
          <a:solidFill>
            <a:srgbClr val="1F3A6E"/>
          </a:solidFill>
          <a:ln w="12700">
            <a:solidFill>
              <a:srgbClr val="1F3A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304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04672" y="2194560"/>
            <a:ext cx="822960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" y="2194560"/>
            <a:ext cx="8229600" cy="384048"/>
          </a:xfrm>
          <a:prstGeom prst="rect">
            <a:avLst/>
          </a:prstGeom>
          <a:solidFill>
            <a:srgbClr val="FEF2F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7824" y="2194560"/>
            <a:ext cx="8083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Challenge:  CLI input() blocking Streamlit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04672" y="2578608"/>
            <a:ext cx="8229600" cy="731520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7824" y="2578608"/>
            <a:ext cx="80832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Solution:  Strict HITL mode with explicit reviewer UI decision (Shortlist / Reject / Needs Review)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3602736"/>
            <a:ext cx="384048" cy="384048"/>
          </a:xfrm>
          <a:prstGeom prst="ellipse">
            <a:avLst/>
          </a:prstGeom>
          <a:solidFill>
            <a:srgbClr val="1F3A6E"/>
          </a:solidFill>
          <a:ln w="12700">
            <a:solidFill>
              <a:srgbClr val="1F3A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36027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04672" y="3493008"/>
            <a:ext cx="822960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04672" y="3493008"/>
            <a:ext cx="8229600" cy="384048"/>
          </a:xfrm>
          <a:prstGeom prst="rect">
            <a:avLst/>
          </a:prstGeom>
          <a:solidFill>
            <a:srgbClr val="FEF2F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77824" y="3493008"/>
            <a:ext cx="8083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Challenge:  Port conflicts at startup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04672" y="3877056"/>
            <a:ext cx="8229600" cy="731520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77824" y="3877056"/>
            <a:ext cx="80832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Solution:  PowerShell launcher with configurable port and stale-process cleanup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74320" y="4663440"/>
            <a:ext cx="8595360" cy="274320"/>
          </a:xfrm>
          <a:prstGeom prst="rect">
            <a:avLst/>
          </a:prstGeom>
          <a:solidFill>
            <a:srgbClr val="CCECE9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6634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Limitations: keyword-based skill extraction · Local hardware dependency for Ollama · Synthetic training dataset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A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Next Steps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932688"/>
            <a:ext cx="4023360" cy="3913632"/>
          </a:xfrm>
          <a:prstGeom prst="rect">
            <a:avLst/>
          </a:prstGeom>
          <a:solidFill>
            <a:srgbClr val="1A346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932688"/>
            <a:ext cx="40233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4632" y="932688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Achievements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30352" y="14173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EC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2 specialist agents + 1 orchestrator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30352" y="183794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EC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PyTorch model — 100% accuracy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30352" y="225856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EC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2 tools integrated in agent workflow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30352" y="267919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EC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Blocking HITL (CLI + Streamlit)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30352" y="309981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EC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16/16 tests passed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30352" y="352044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EC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Structured JSONL logs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30352" y="394106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EC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Batch screening + leaderboard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30352" y="436168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EC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CrewAI primary + deterministic fallback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09160" y="932688"/>
            <a:ext cx="4114800" cy="3913632"/>
          </a:xfrm>
          <a:prstGeom prst="rect">
            <a:avLst/>
          </a:prstGeom>
          <a:solidFill>
            <a:srgbClr val="1A3460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09160" y="932688"/>
            <a:ext cx="411480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82312" y="932688"/>
            <a:ext cx="3968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Improvements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28032" y="1444752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Semantic embedding-based skill matching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28032" y="1956816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Bias &amp; fairness analysis metrics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28032" y="2468880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Recruiter feedback loop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28032" y="2980944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Real-time analytics dashboard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28032" y="3493008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Multilingual CV/job support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11480" y="4709160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Questions?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CV Screening Multi-Agent System</dc:title>
  <dc:subject>PptxGenJS Presentation</dc:subject>
  <dc:creator>Zouhair Eouichak, Malak Bartal, Aymane El Youssi</dc:creator>
  <cp:lastModifiedBy>Zouhair Eouichak, Malak Bartal, Aymane El Youssi</cp:lastModifiedBy>
  <cp:revision>1</cp:revision>
  <dcterms:created xsi:type="dcterms:W3CDTF">2026-05-24T11:41:48Z</dcterms:created>
  <dcterms:modified xsi:type="dcterms:W3CDTF">2026-05-24T11:41:48Z</dcterms:modified>
</cp:coreProperties>
</file>